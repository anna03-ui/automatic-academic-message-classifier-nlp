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onsolas" panose="02000000000000000000" pitchFamily="2" charset="0"/>
      <p:regular r:id="rId12"/>
      <p:bold r:id="rId13"/>
      <p:italic r:id="rId14"/>
      <p:boldItalic r:id="rId15"/>
    </p:embeddedFont>
    <p:embeddedFont>
      <p:font typeface="Gelasio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2.fntdata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1.fntdata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font" Target="fonts/font5.fntdata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font" Target="fonts/font4.fntdata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3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137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Relationship Id="rId9" Type="http://schemas.openxmlformats.org/officeDocument/2006/relationships/image" Target="../media/image9.pn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 /><Relationship Id="rId13" Type="http://schemas.openxmlformats.org/officeDocument/2006/relationships/image" Target="../media/image20.png" /><Relationship Id="rId3" Type="http://schemas.openxmlformats.org/officeDocument/2006/relationships/image" Target="../media/image10.png" /><Relationship Id="rId7" Type="http://schemas.openxmlformats.org/officeDocument/2006/relationships/image" Target="../media/image14.png" /><Relationship Id="rId12" Type="http://schemas.openxmlformats.org/officeDocument/2006/relationships/image" Target="../media/image19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8.xml" /><Relationship Id="rId6" Type="http://schemas.openxmlformats.org/officeDocument/2006/relationships/image" Target="../media/image13.png" /><Relationship Id="rId11" Type="http://schemas.openxmlformats.org/officeDocument/2006/relationships/image" Target="../media/image18.png" /><Relationship Id="rId5" Type="http://schemas.openxmlformats.org/officeDocument/2006/relationships/image" Target="../media/image12.png" /><Relationship Id="rId10" Type="http://schemas.openxmlformats.org/officeDocument/2006/relationships/image" Target="../media/image17.png" /><Relationship Id="rId4" Type="http://schemas.openxmlformats.org/officeDocument/2006/relationships/image" Target="../media/image11.png" /><Relationship Id="rId9" Type="http://schemas.openxmlformats.org/officeDocument/2006/relationships/image" Target="../media/image16.png" /><Relationship Id="rId14" Type="http://schemas.openxmlformats.org/officeDocument/2006/relationships/image" Target="../media/image21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7" Type="http://schemas.openxmlformats.org/officeDocument/2006/relationships/image" Target="../media/image26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9.xml" /><Relationship Id="rId6" Type="http://schemas.openxmlformats.org/officeDocument/2006/relationships/image" Target="../media/image25.png" /><Relationship Id="rId5" Type="http://schemas.openxmlformats.org/officeDocument/2006/relationships/image" Target="../media/image24.png" /><Relationship Id="rId4" Type="http://schemas.openxmlformats.org/officeDocument/2006/relationships/image" Target="../media/image23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83055"/>
            <a:ext cx="7556421" cy="27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Automatic Classification of    Academic Messages </a:t>
            </a:r>
            <a:endParaRPr lang="en-US" sz="4450" b="1"/>
          </a:p>
        </p:txBody>
      </p:sp>
      <p:sp>
        <p:nvSpPr>
          <p:cNvPr id="5" name="Text 2"/>
          <p:cNvSpPr/>
          <p:nvPr/>
        </p:nvSpPr>
        <p:spPr>
          <a:xfrm>
            <a:off x="6280190" y="566547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ANNA ROSE THOMAS</a:t>
            </a:r>
            <a:endParaRPr lang="en-US" sz="1750"/>
          </a:p>
        </p:txBody>
      </p:sp>
      <p:sp>
        <p:nvSpPr>
          <p:cNvPr id="6" name="Text 3"/>
          <p:cNvSpPr/>
          <p:nvPr/>
        </p:nvSpPr>
        <p:spPr>
          <a:xfrm>
            <a:off x="6280190" y="628352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2363010</a:t>
            </a:r>
            <a:endParaRPr lang="en-US" sz="17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4FE4B-E162-3D6B-AE57-1AB6AD07B030}"/>
              </a:ext>
            </a:extLst>
          </p:cNvPr>
          <p:cNvSpPr/>
          <p:nvPr/>
        </p:nvSpPr>
        <p:spPr>
          <a:xfrm>
            <a:off x="0" y="7710286"/>
            <a:ext cx="14630400" cy="519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37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Statement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28361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Students and faculty receive messages via WhatsApp, email, or academic portals:</a:t>
            </a:r>
            <a:endParaRPr lang="en-US" sz="1750"/>
          </a:p>
        </p:txBody>
      </p:sp>
      <p:sp>
        <p:nvSpPr>
          <p:cNvPr id="4" name="Text 2"/>
          <p:cNvSpPr/>
          <p:nvPr/>
        </p:nvSpPr>
        <p:spPr>
          <a:xfrm>
            <a:off x="793790" y="34542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College events</a:t>
            </a:r>
            <a:endParaRPr lang="en-US" sz="1750"/>
          </a:p>
        </p:txBody>
      </p:sp>
      <p:sp>
        <p:nvSpPr>
          <p:cNvPr id="5" name="Text 3"/>
          <p:cNvSpPr/>
          <p:nvPr/>
        </p:nvSpPr>
        <p:spPr>
          <a:xfrm>
            <a:off x="793790" y="38964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 talks and workshops</a:t>
            </a:r>
            <a:endParaRPr lang="en-US" sz="1750"/>
          </a:p>
        </p:txBody>
      </p:sp>
      <p:sp>
        <p:nvSpPr>
          <p:cNvPr id="6" name="Text 4"/>
          <p:cNvSpPr/>
          <p:nvPr/>
        </p:nvSpPr>
        <p:spPr>
          <a:xfrm>
            <a:off x="793790" y="43386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Assignments, deadlines, and notices</a:t>
            </a:r>
            <a:endParaRPr lang="en-US" sz="1750"/>
          </a:p>
        </p:txBody>
      </p:sp>
      <p:sp>
        <p:nvSpPr>
          <p:cNvPr id="7" name="Text 5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Sorting messages manually is </a:t>
            </a:r>
            <a:r>
              <a:rPr lang="en-US" sz="1750" b="1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time-consuming</a:t>
            </a:r>
            <a:r>
              <a:rPr lang="en-US" sz="17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and important events can be </a:t>
            </a:r>
            <a:r>
              <a:rPr lang="en-US" sz="1750" b="1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missed</a:t>
            </a:r>
            <a:endParaRPr lang="en-US" sz="1750"/>
          </a:p>
        </p:txBody>
      </p:sp>
      <p:sp>
        <p:nvSpPr>
          <p:cNvPr id="8" name="Text 6"/>
          <p:cNvSpPr/>
          <p:nvPr/>
        </p:nvSpPr>
        <p:spPr>
          <a:xfrm>
            <a:off x="793790" y="55747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Solution:</a:t>
            </a:r>
            <a:r>
              <a:rPr lang="en-US" sz="17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Automatically classify messages into </a:t>
            </a:r>
            <a:r>
              <a:rPr lang="en-US" sz="1750" b="1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Event / Tech Talk / Other Academic</a:t>
            </a:r>
            <a:endParaRPr lang="en-US" sz="1750"/>
          </a:p>
        </p:txBody>
      </p:sp>
      <p:sp>
        <p:nvSpPr>
          <p:cNvPr id="9" name="Text 7"/>
          <p:cNvSpPr/>
          <p:nvPr/>
        </p:nvSpPr>
        <p:spPr>
          <a:xfrm>
            <a:off x="793790" y="61927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Optional:</a:t>
            </a:r>
            <a:r>
              <a:rPr lang="en-US" sz="17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Trigger </a:t>
            </a:r>
            <a:r>
              <a:rPr lang="en-US" sz="1750" b="1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calendar reminders or notifications</a:t>
            </a:r>
            <a:r>
              <a:rPr lang="en-US" sz="17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Event/Tech Talk</a:t>
            </a:r>
            <a:endParaRPr lang="en-US" sz="17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853F73-273D-B849-C17F-9556C13C1589}"/>
              </a:ext>
            </a:extLst>
          </p:cNvPr>
          <p:cNvSpPr/>
          <p:nvPr/>
        </p:nvSpPr>
        <p:spPr>
          <a:xfrm>
            <a:off x="0" y="7710286"/>
            <a:ext cx="14630400" cy="519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27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Objectives</a:t>
            </a:r>
            <a:endParaRPr lang="en-US" sz="4450"/>
          </a:p>
        </p:txBody>
      </p:sp>
      <p:sp>
        <p:nvSpPr>
          <p:cNvPr id="3" name="Shape 1"/>
          <p:cNvSpPr/>
          <p:nvPr/>
        </p:nvSpPr>
        <p:spPr>
          <a:xfrm>
            <a:off x="793790" y="2695337"/>
            <a:ext cx="4196358" cy="1887260"/>
          </a:xfrm>
          <a:prstGeom prst="roundRect">
            <a:avLst>
              <a:gd name="adj" fmla="val 7752"/>
            </a:avLst>
          </a:prstGeom>
          <a:solidFill>
            <a:srgbClr val="464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93790" y="2664857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551688" y="235517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55761" y="252531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100"/>
          </a:p>
        </p:txBody>
      </p:sp>
      <p:sp>
        <p:nvSpPr>
          <p:cNvPr id="7" name="Text 5"/>
          <p:cNvSpPr/>
          <p:nvPr/>
        </p:nvSpPr>
        <p:spPr>
          <a:xfrm>
            <a:off x="1051084" y="3262313"/>
            <a:ext cx="368177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Classify academic messages into </a:t>
            </a:r>
            <a:r>
              <a:rPr lang="en-US" sz="2200" b="1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Event / Tech Talk / Other Academic</a:t>
            </a:r>
            <a:endParaRPr lang="en-US" sz="2200"/>
          </a:p>
        </p:txBody>
      </p:sp>
      <p:sp>
        <p:nvSpPr>
          <p:cNvPr id="8" name="Shape 6"/>
          <p:cNvSpPr/>
          <p:nvPr/>
        </p:nvSpPr>
        <p:spPr>
          <a:xfrm>
            <a:off x="5216962" y="2695337"/>
            <a:ext cx="4196358" cy="1887260"/>
          </a:xfrm>
          <a:prstGeom prst="roundRect">
            <a:avLst>
              <a:gd name="adj" fmla="val 7752"/>
            </a:avLst>
          </a:prstGeom>
          <a:solidFill>
            <a:srgbClr val="464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216962" y="2664857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974860" y="235517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178933" y="252531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100"/>
          </a:p>
        </p:txBody>
      </p:sp>
      <p:sp>
        <p:nvSpPr>
          <p:cNvPr id="12" name="Text 10"/>
          <p:cNvSpPr/>
          <p:nvPr/>
        </p:nvSpPr>
        <p:spPr>
          <a:xfrm>
            <a:off x="5474256" y="3262313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Preprocess text for NLP analysis</a:t>
            </a:r>
            <a:endParaRPr lang="en-US" sz="2200"/>
          </a:p>
        </p:txBody>
      </p:sp>
      <p:sp>
        <p:nvSpPr>
          <p:cNvPr id="13" name="Shape 11"/>
          <p:cNvSpPr/>
          <p:nvPr/>
        </p:nvSpPr>
        <p:spPr>
          <a:xfrm>
            <a:off x="9640133" y="2695337"/>
            <a:ext cx="4196358" cy="1887260"/>
          </a:xfrm>
          <a:prstGeom prst="roundRect">
            <a:avLst>
              <a:gd name="adj" fmla="val 7752"/>
            </a:avLst>
          </a:prstGeom>
          <a:solidFill>
            <a:srgbClr val="464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640133" y="2664857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1398032" y="235517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1602105" y="252531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100"/>
          </a:p>
        </p:txBody>
      </p:sp>
      <p:sp>
        <p:nvSpPr>
          <p:cNvPr id="17" name="Text 15"/>
          <p:cNvSpPr/>
          <p:nvPr/>
        </p:nvSpPr>
        <p:spPr>
          <a:xfrm>
            <a:off x="9897427" y="3262313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Train a </a:t>
            </a:r>
            <a:r>
              <a:rPr lang="en-US" sz="2200" b="1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Naive Bayes classifier</a:t>
            </a:r>
            <a:endParaRPr lang="en-US" sz="2200"/>
          </a:p>
        </p:txBody>
      </p:sp>
      <p:sp>
        <p:nvSpPr>
          <p:cNvPr id="18" name="Shape 16"/>
          <p:cNvSpPr/>
          <p:nvPr/>
        </p:nvSpPr>
        <p:spPr>
          <a:xfrm>
            <a:off x="793790" y="5149572"/>
            <a:ext cx="6407944" cy="1887260"/>
          </a:xfrm>
          <a:prstGeom prst="roundRect">
            <a:avLst>
              <a:gd name="adj" fmla="val 7752"/>
            </a:avLst>
          </a:prstGeom>
          <a:solidFill>
            <a:srgbClr val="464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93790" y="5119092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540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61614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2100"/>
          </a:p>
        </p:txBody>
      </p:sp>
      <p:sp>
        <p:nvSpPr>
          <p:cNvPr id="22" name="Text 20"/>
          <p:cNvSpPr/>
          <p:nvPr/>
        </p:nvSpPr>
        <p:spPr>
          <a:xfrm>
            <a:off x="1051084" y="5716548"/>
            <a:ext cx="589335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Automatically create </a:t>
            </a:r>
            <a:r>
              <a:rPr lang="en-US" sz="2200" b="1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reminders/notifications</a:t>
            </a:r>
            <a:r>
              <a:rPr lang="en-US" sz="22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Event/Tech Talk</a:t>
            </a:r>
            <a:endParaRPr lang="en-US" sz="2200"/>
          </a:p>
        </p:txBody>
      </p:sp>
      <p:sp>
        <p:nvSpPr>
          <p:cNvPr id="23" name="Shape 21"/>
          <p:cNvSpPr/>
          <p:nvPr/>
        </p:nvSpPr>
        <p:spPr>
          <a:xfrm>
            <a:off x="7428548" y="5149572"/>
            <a:ext cx="6407944" cy="1887260"/>
          </a:xfrm>
          <a:prstGeom prst="roundRect">
            <a:avLst>
              <a:gd name="adj" fmla="val 7752"/>
            </a:avLst>
          </a:prstGeom>
          <a:solidFill>
            <a:srgbClr val="4643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428548" y="5119092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292298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496371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</a:t>
            </a:r>
            <a:endParaRPr lang="en-US" sz="2100"/>
          </a:p>
        </p:txBody>
      </p:sp>
      <p:sp>
        <p:nvSpPr>
          <p:cNvPr id="27" name="Text 25"/>
          <p:cNvSpPr/>
          <p:nvPr/>
        </p:nvSpPr>
        <p:spPr>
          <a:xfrm>
            <a:off x="7685842" y="5716548"/>
            <a:ext cx="58933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Evaluate model performance on unseen messages</a:t>
            </a:r>
            <a:endParaRPr lang="en-US" sz="22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A81202-15A8-A84B-8A42-3A674C76A577}"/>
              </a:ext>
            </a:extLst>
          </p:cNvPr>
          <p:cNvSpPr/>
          <p:nvPr/>
        </p:nvSpPr>
        <p:spPr>
          <a:xfrm>
            <a:off x="0" y="7710286"/>
            <a:ext cx="14630400" cy="519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6864" y="492562"/>
            <a:ext cx="4478060" cy="55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Methodology</a:t>
            </a:r>
            <a:endParaRPr lang="en-US" sz="3500"/>
          </a:p>
        </p:txBody>
      </p:sp>
      <p:sp>
        <p:nvSpPr>
          <p:cNvPr id="3" name="Text 1"/>
          <p:cNvSpPr/>
          <p:nvPr/>
        </p:nvSpPr>
        <p:spPr>
          <a:xfrm>
            <a:off x="626864" y="1320879"/>
            <a:ext cx="3582472" cy="447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Steps:</a:t>
            </a:r>
            <a:endParaRPr lang="en-US" sz="28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305" y="3635573"/>
            <a:ext cx="9363670" cy="93636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40527" y="7347049"/>
            <a:ext cx="302181" cy="377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3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35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305" y="3635573"/>
            <a:ext cx="9363670" cy="93636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8588" y="5939135"/>
            <a:ext cx="302181" cy="377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3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35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305" y="3635573"/>
            <a:ext cx="9363670" cy="936367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640407" y="4964847"/>
            <a:ext cx="302181" cy="377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3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35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3305" y="3635573"/>
            <a:ext cx="9363670" cy="93636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63931" y="4617065"/>
            <a:ext cx="302181" cy="377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3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235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3305" y="3635573"/>
            <a:ext cx="9363670" cy="936367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687336" y="4964847"/>
            <a:ext cx="302181" cy="377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3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</a:t>
            </a:r>
            <a:endParaRPr lang="en-US" sz="235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3305" y="3635573"/>
            <a:ext cx="9363670" cy="936367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09155" y="5939135"/>
            <a:ext cx="302181" cy="377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3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6</a:t>
            </a:r>
            <a:endParaRPr lang="en-US" sz="235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3305" y="3635573"/>
            <a:ext cx="9363670" cy="936367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587216" y="7347049"/>
            <a:ext cx="302181" cy="377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3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7</a:t>
            </a:r>
            <a:endParaRPr lang="en-US" sz="2350"/>
          </a:p>
        </p:txBody>
      </p:sp>
      <p:sp>
        <p:nvSpPr>
          <p:cNvPr id="18" name="Text 9"/>
          <p:cNvSpPr/>
          <p:nvPr/>
        </p:nvSpPr>
        <p:spPr>
          <a:xfrm>
            <a:off x="626864" y="4221242"/>
            <a:ext cx="1680686" cy="55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1. Dataset Creation</a:t>
            </a:r>
            <a:endParaRPr lang="en-US" sz="1750"/>
          </a:p>
        </p:txBody>
      </p:sp>
      <p:sp>
        <p:nvSpPr>
          <p:cNvPr id="19" name="Text 10"/>
          <p:cNvSpPr/>
          <p:nvPr/>
        </p:nvSpPr>
        <p:spPr>
          <a:xfrm>
            <a:off x="626864" y="4888468"/>
            <a:ext cx="1680686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40–50 messages across 3 categories</a:t>
            </a:r>
            <a:endParaRPr lang="en-US" sz="1400"/>
          </a:p>
        </p:txBody>
      </p:sp>
      <p:sp>
        <p:nvSpPr>
          <p:cNvPr id="20" name="Text 11"/>
          <p:cNvSpPr/>
          <p:nvPr/>
        </p:nvSpPr>
        <p:spPr>
          <a:xfrm>
            <a:off x="2576155" y="2808446"/>
            <a:ext cx="1680686" cy="55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2. Data Preprocessing</a:t>
            </a:r>
            <a:endParaRPr lang="en-US" sz="1750"/>
          </a:p>
        </p:txBody>
      </p:sp>
      <p:sp>
        <p:nvSpPr>
          <p:cNvPr id="21" name="Text 12"/>
          <p:cNvSpPr/>
          <p:nvPr/>
        </p:nvSpPr>
        <p:spPr>
          <a:xfrm>
            <a:off x="2576155" y="3475673"/>
            <a:ext cx="1680686" cy="859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lowercase, remove punctuation, tokenize</a:t>
            </a:r>
            <a:endParaRPr lang="en-US" sz="1400"/>
          </a:p>
        </p:txBody>
      </p:sp>
      <p:sp>
        <p:nvSpPr>
          <p:cNvPr id="22" name="Text 13"/>
          <p:cNvSpPr/>
          <p:nvPr/>
        </p:nvSpPr>
        <p:spPr>
          <a:xfrm>
            <a:off x="4525447" y="2315408"/>
            <a:ext cx="1680686" cy="55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 Feature Extraction</a:t>
            </a:r>
            <a:endParaRPr lang="en-US" sz="1750"/>
          </a:p>
        </p:txBody>
      </p:sp>
      <p:sp>
        <p:nvSpPr>
          <p:cNvPr id="23" name="Text 14"/>
          <p:cNvSpPr/>
          <p:nvPr/>
        </p:nvSpPr>
        <p:spPr>
          <a:xfrm>
            <a:off x="4525447" y="2982635"/>
            <a:ext cx="1680686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Bag-of-Words / TF–IDF</a:t>
            </a:r>
            <a:endParaRPr lang="en-US" sz="1400"/>
          </a:p>
        </p:txBody>
      </p:sp>
      <p:sp>
        <p:nvSpPr>
          <p:cNvPr id="24" name="Text 15"/>
          <p:cNvSpPr/>
          <p:nvPr/>
        </p:nvSpPr>
        <p:spPr>
          <a:xfrm>
            <a:off x="6474738" y="2037278"/>
            <a:ext cx="1680805" cy="55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4. Model Training</a:t>
            </a:r>
            <a:endParaRPr lang="en-US" sz="1750"/>
          </a:p>
        </p:txBody>
      </p:sp>
      <p:sp>
        <p:nvSpPr>
          <p:cNvPr id="25" name="Text 16"/>
          <p:cNvSpPr/>
          <p:nvPr/>
        </p:nvSpPr>
        <p:spPr>
          <a:xfrm>
            <a:off x="6474738" y="2704505"/>
            <a:ext cx="1680805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Naive Bayes classifier</a:t>
            </a:r>
            <a:endParaRPr lang="en-US" sz="1400"/>
          </a:p>
        </p:txBody>
      </p:sp>
      <p:sp>
        <p:nvSpPr>
          <p:cNvPr id="26" name="Text 17"/>
          <p:cNvSpPr/>
          <p:nvPr/>
        </p:nvSpPr>
        <p:spPr>
          <a:xfrm>
            <a:off x="8424148" y="2595324"/>
            <a:ext cx="1680686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5. Prediction</a:t>
            </a:r>
            <a:endParaRPr lang="en-US" sz="1750"/>
          </a:p>
        </p:txBody>
      </p:sp>
      <p:sp>
        <p:nvSpPr>
          <p:cNvPr id="27" name="Text 18"/>
          <p:cNvSpPr/>
          <p:nvPr/>
        </p:nvSpPr>
        <p:spPr>
          <a:xfrm>
            <a:off x="8424148" y="2982635"/>
            <a:ext cx="1680686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classify new messages</a:t>
            </a:r>
            <a:endParaRPr lang="en-US" sz="1400"/>
          </a:p>
        </p:txBody>
      </p:sp>
      <p:sp>
        <p:nvSpPr>
          <p:cNvPr id="28" name="Text 19"/>
          <p:cNvSpPr/>
          <p:nvPr/>
        </p:nvSpPr>
        <p:spPr>
          <a:xfrm>
            <a:off x="10373439" y="3094911"/>
            <a:ext cx="1680686" cy="55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6. Automatic Reminder</a:t>
            </a:r>
            <a:endParaRPr lang="en-US" sz="1750"/>
          </a:p>
        </p:txBody>
      </p:sp>
      <p:sp>
        <p:nvSpPr>
          <p:cNvPr id="29" name="Text 20"/>
          <p:cNvSpPr/>
          <p:nvPr/>
        </p:nvSpPr>
        <p:spPr>
          <a:xfrm>
            <a:off x="10373439" y="3762137"/>
            <a:ext cx="1680686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extract time/date → trigger alert</a:t>
            </a:r>
            <a:endParaRPr lang="en-US" sz="1400"/>
          </a:p>
        </p:txBody>
      </p:sp>
      <p:sp>
        <p:nvSpPr>
          <p:cNvPr id="30" name="Text 21"/>
          <p:cNvSpPr/>
          <p:nvPr/>
        </p:nvSpPr>
        <p:spPr>
          <a:xfrm>
            <a:off x="12322731" y="4501158"/>
            <a:ext cx="1680805" cy="27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7. Evaluation</a:t>
            </a:r>
            <a:endParaRPr lang="en-US" sz="1750"/>
          </a:p>
        </p:txBody>
      </p:sp>
      <p:sp>
        <p:nvSpPr>
          <p:cNvPr id="31" name="Text 22"/>
          <p:cNvSpPr/>
          <p:nvPr/>
        </p:nvSpPr>
        <p:spPr>
          <a:xfrm>
            <a:off x="12322731" y="4888468"/>
            <a:ext cx="1680805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accuracy, sample predictions</a:t>
            </a:r>
            <a:endParaRPr lang="en-US" sz="1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014560-0742-25C7-99A9-234EE1AED38E}"/>
              </a:ext>
            </a:extLst>
          </p:cNvPr>
          <p:cNvSpPr/>
          <p:nvPr/>
        </p:nvSpPr>
        <p:spPr>
          <a:xfrm>
            <a:off x="0" y="7804842"/>
            <a:ext cx="14630400" cy="42475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173" y="767596"/>
            <a:ext cx="4416266" cy="55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Creation</a:t>
            </a:r>
            <a:endParaRPr lang="en-US" sz="3450"/>
          </a:p>
        </p:txBody>
      </p:sp>
      <p:sp>
        <p:nvSpPr>
          <p:cNvPr id="3" name="Shape 1"/>
          <p:cNvSpPr/>
          <p:nvPr/>
        </p:nvSpPr>
        <p:spPr>
          <a:xfrm>
            <a:off x="490895" y="1584484"/>
            <a:ext cx="5353526" cy="5877520"/>
          </a:xfrm>
          <a:prstGeom prst="roundRect">
            <a:avLst>
              <a:gd name="adj" fmla="val 495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67464" y="1761053"/>
            <a:ext cx="2649736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Why create manually?</a:t>
            </a:r>
            <a:endParaRPr lang="en-US" sz="2050"/>
          </a:p>
        </p:txBody>
      </p:sp>
      <p:sp>
        <p:nvSpPr>
          <p:cNvPr id="5" name="Text 3"/>
          <p:cNvSpPr/>
          <p:nvPr/>
        </p:nvSpPr>
        <p:spPr>
          <a:xfrm>
            <a:off x="667464" y="2268855"/>
            <a:ext cx="5000387" cy="565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Font typeface="+mj-lt"/>
              <a:buAutoNum type="arabicPeriod"/>
            </a:pPr>
            <a:r>
              <a:rPr lang="en-US" sz="13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 WhatsApp/email messages may not be publicly available</a:t>
            </a:r>
            <a:endParaRPr lang="en-US" sz="1350"/>
          </a:p>
        </p:txBody>
      </p:sp>
      <p:sp>
        <p:nvSpPr>
          <p:cNvPr id="6" name="Text 4"/>
          <p:cNvSpPr/>
          <p:nvPr/>
        </p:nvSpPr>
        <p:spPr>
          <a:xfrm>
            <a:off x="667464" y="2895957"/>
            <a:ext cx="5000387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Font typeface="+mj-lt"/>
              <a:buAutoNum type="arabicPeriod" startAt="2"/>
            </a:pPr>
            <a:r>
              <a:rPr lang="en-US" sz="13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Only 40–50 messages required for small project</a:t>
            </a:r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667464" y="3240405"/>
            <a:ext cx="5000387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Font typeface="+mj-lt"/>
              <a:buAutoNum type="arabicPeriod" startAt="3"/>
            </a:pPr>
            <a:r>
              <a:rPr lang="en-US" sz="13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Manual creation ensures </a:t>
            </a:r>
            <a:r>
              <a:rPr lang="en-US" sz="1350" b="1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balanced categories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667464" y="3699629"/>
            <a:ext cx="2649736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Categories:</a:t>
            </a:r>
            <a:endParaRPr lang="en-US" sz="2050"/>
          </a:p>
        </p:txBody>
      </p:sp>
      <p:sp>
        <p:nvSpPr>
          <p:cNvPr id="9" name="Text 7"/>
          <p:cNvSpPr/>
          <p:nvPr/>
        </p:nvSpPr>
        <p:spPr>
          <a:xfrm>
            <a:off x="667464" y="4207431"/>
            <a:ext cx="5000387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Event → College events, festivals, sports day, cultural events</a:t>
            </a:r>
            <a:endParaRPr lang="en-US" sz="1350"/>
          </a:p>
        </p:txBody>
      </p:sp>
      <p:sp>
        <p:nvSpPr>
          <p:cNvPr id="10" name="Text 8"/>
          <p:cNvSpPr/>
          <p:nvPr/>
        </p:nvSpPr>
        <p:spPr>
          <a:xfrm>
            <a:off x="667464" y="4551878"/>
            <a:ext cx="5000387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 Talk → Workshops, seminars, webinars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667464" y="4896326"/>
            <a:ext cx="5000387" cy="565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Other Academic → Assignments, deadlines, library notifications</a:t>
            </a:r>
            <a:endParaRPr lang="en-US" sz="1350"/>
          </a:p>
        </p:txBody>
      </p:sp>
      <p:sp>
        <p:nvSpPr>
          <p:cNvPr id="12" name="Text 10"/>
          <p:cNvSpPr/>
          <p:nvPr/>
        </p:nvSpPr>
        <p:spPr>
          <a:xfrm>
            <a:off x="667464" y="5638205"/>
            <a:ext cx="2649736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Sample Messages:</a:t>
            </a:r>
            <a:endParaRPr lang="en-US" sz="2050"/>
          </a:p>
        </p:txBody>
      </p:sp>
      <p:sp>
        <p:nvSpPr>
          <p:cNvPr id="13" name="Text 11"/>
          <p:cNvSpPr/>
          <p:nvPr/>
        </p:nvSpPr>
        <p:spPr>
          <a:xfrm>
            <a:off x="667464" y="6146006"/>
            <a:ext cx="5000387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Event: "Onam Celebration in College Auditorium tomorrow"</a:t>
            </a:r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667464" y="6490454"/>
            <a:ext cx="5000387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 Talk: "Join AI Tech Talk on 10th Sep at 3 PM"</a:t>
            </a:r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667464" y="6834902"/>
            <a:ext cx="5000387" cy="565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Other Academic: "Assignment 2 submission deadline is tomorrow"</a:t>
            </a:r>
            <a:endParaRPr lang="en-US" sz="1350"/>
          </a:p>
        </p:txBody>
      </p:sp>
      <p:sp>
        <p:nvSpPr>
          <p:cNvPr id="16" name="Shape 14"/>
          <p:cNvSpPr/>
          <p:nvPr/>
        </p:nvSpPr>
        <p:spPr>
          <a:xfrm>
            <a:off x="6028492" y="1584484"/>
            <a:ext cx="8118515" cy="5877520"/>
          </a:xfrm>
          <a:prstGeom prst="roundRect">
            <a:avLst>
              <a:gd name="adj" fmla="val 451"/>
            </a:avLst>
          </a:prstGeom>
          <a:solidFill>
            <a:srgbClr val="8080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05061" y="1761053"/>
            <a:ext cx="4356854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Save Dataset:</a:t>
            </a:r>
            <a:r>
              <a:rPr lang="en-US" sz="20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CSV with two columns:</a:t>
            </a:r>
            <a:endParaRPr lang="en-US" sz="2050"/>
          </a:p>
        </p:txBody>
      </p:sp>
      <p:sp>
        <p:nvSpPr>
          <p:cNvPr id="18" name="Shape 16"/>
          <p:cNvSpPr/>
          <p:nvPr/>
        </p:nvSpPr>
        <p:spPr>
          <a:xfrm>
            <a:off x="6205061" y="2291001"/>
            <a:ext cx="7765375" cy="2619851"/>
          </a:xfrm>
          <a:prstGeom prst="roundRect">
            <a:avLst>
              <a:gd name="adj" fmla="val 101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212681" y="2298621"/>
            <a:ext cx="7750135" cy="5098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89370" y="2412206"/>
            <a:ext cx="3518059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Message</a:t>
            </a:r>
            <a:endParaRPr lang="en-US" sz="1350"/>
          </a:p>
        </p:txBody>
      </p:sp>
      <p:sp>
        <p:nvSpPr>
          <p:cNvPr id="21" name="Text 19"/>
          <p:cNvSpPr/>
          <p:nvPr/>
        </p:nvSpPr>
        <p:spPr>
          <a:xfrm>
            <a:off x="10268188" y="2412206"/>
            <a:ext cx="3518059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Label</a:t>
            </a:r>
            <a:endParaRPr lang="en-US" sz="1350"/>
          </a:p>
        </p:txBody>
      </p:sp>
      <p:sp>
        <p:nvSpPr>
          <p:cNvPr id="22" name="Shape 20"/>
          <p:cNvSpPr/>
          <p:nvPr/>
        </p:nvSpPr>
        <p:spPr>
          <a:xfrm>
            <a:off x="6212681" y="2808446"/>
            <a:ext cx="7750135" cy="5098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389370" y="2922032"/>
            <a:ext cx="3518059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"Join AI Tech Talk on 10th Sep at 3 PM"</a:t>
            </a:r>
            <a:endParaRPr lang="en-US" sz="1350"/>
          </a:p>
        </p:txBody>
      </p:sp>
      <p:sp>
        <p:nvSpPr>
          <p:cNvPr id="24" name="Text 22"/>
          <p:cNvSpPr/>
          <p:nvPr/>
        </p:nvSpPr>
        <p:spPr>
          <a:xfrm>
            <a:off x="10268188" y="2922032"/>
            <a:ext cx="3518059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 Talk</a:t>
            </a:r>
            <a:endParaRPr lang="en-US" sz="1350"/>
          </a:p>
        </p:txBody>
      </p:sp>
      <p:sp>
        <p:nvSpPr>
          <p:cNvPr id="25" name="Shape 23"/>
          <p:cNvSpPr/>
          <p:nvPr/>
        </p:nvSpPr>
        <p:spPr>
          <a:xfrm>
            <a:off x="6212681" y="3318272"/>
            <a:ext cx="7750135" cy="79248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89370" y="3431857"/>
            <a:ext cx="3518059" cy="565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"Onam Celebration in College Auditorium tomorrow"</a:t>
            </a:r>
            <a:endParaRPr lang="en-US" sz="1350"/>
          </a:p>
        </p:txBody>
      </p:sp>
      <p:sp>
        <p:nvSpPr>
          <p:cNvPr id="27" name="Text 25"/>
          <p:cNvSpPr/>
          <p:nvPr/>
        </p:nvSpPr>
        <p:spPr>
          <a:xfrm>
            <a:off x="10268188" y="3431857"/>
            <a:ext cx="3518059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Event</a:t>
            </a:r>
            <a:endParaRPr lang="en-US" sz="1350"/>
          </a:p>
        </p:txBody>
      </p:sp>
      <p:sp>
        <p:nvSpPr>
          <p:cNvPr id="28" name="Shape 26"/>
          <p:cNvSpPr/>
          <p:nvPr/>
        </p:nvSpPr>
        <p:spPr>
          <a:xfrm>
            <a:off x="6212681" y="4110752"/>
            <a:ext cx="7750135" cy="79248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389370" y="4224338"/>
            <a:ext cx="3518059" cy="565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"Assignment 2 submission deadline is tomorrow"</a:t>
            </a:r>
            <a:endParaRPr lang="en-US" sz="1350"/>
          </a:p>
        </p:txBody>
      </p:sp>
      <p:sp>
        <p:nvSpPr>
          <p:cNvPr id="30" name="Text 28"/>
          <p:cNvSpPr/>
          <p:nvPr/>
        </p:nvSpPr>
        <p:spPr>
          <a:xfrm>
            <a:off x="10268188" y="4224338"/>
            <a:ext cx="3518059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Other Academic</a:t>
            </a:r>
            <a:endParaRPr lang="en-US" sz="1350"/>
          </a:p>
        </p:txBody>
      </p:sp>
      <p:sp>
        <p:nvSpPr>
          <p:cNvPr id="31" name="Text 29"/>
          <p:cNvSpPr/>
          <p:nvPr/>
        </p:nvSpPr>
        <p:spPr>
          <a:xfrm>
            <a:off x="6205061" y="5109567"/>
            <a:ext cx="7765375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Slightly vary messages to expand dataset; 40–50 messages is enough</a:t>
            </a:r>
            <a:endParaRPr lang="en-US" sz="13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91F848-23D7-32A6-CB24-46207AC73546}"/>
              </a:ext>
            </a:extLst>
          </p:cNvPr>
          <p:cNvSpPr/>
          <p:nvPr/>
        </p:nvSpPr>
        <p:spPr>
          <a:xfrm>
            <a:off x="0" y="7710286"/>
            <a:ext cx="14630400" cy="519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685" y="909161"/>
            <a:ext cx="5112068" cy="639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Preprocessing</a:t>
            </a:r>
            <a:endParaRPr lang="en-US" sz="4000"/>
          </a:p>
        </p:txBody>
      </p:sp>
      <p:sp>
        <p:nvSpPr>
          <p:cNvPr id="3" name="Shape 1"/>
          <p:cNvSpPr/>
          <p:nvPr/>
        </p:nvSpPr>
        <p:spPr>
          <a:xfrm>
            <a:off x="715685" y="1957030"/>
            <a:ext cx="3146346" cy="2958822"/>
          </a:xfrm>
          <a:prstGeom prst="roundRect">
            <a:avLst>
              <a:gd name="adj" fmla="val 103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10841" y="2161461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Lowercasing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920115" y="2603540"/>
            <a:ext cx="2737485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Converts all text to a uniform lowercase format.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920115" y="3380303"/>
            <a:ext cx="2737485" cy="102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"Onam Celebration Tomorrow" → "onam celebration tomorrow"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4066461" y="1957030"/>
            <a:ext cx="3146465" cy="2958822"/>
          </a:xfrm>
          <a:prstGeom prst="roundRect">
            <a:avLst>
              <a:gd name="adj" fmla="val 103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270891" y="2161461"/>
            <a:ext cx="2737604" cy="638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Remove Punctuation &amp; Special Characters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4270891" y="2922984"/>
            <a:ext cx="2737604" cy="9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Eliminates symbols, punctuation, and other non-alphanumeric characters.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4270891" y="4026813"/>
            <a:ext cx="2737604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"Submit assignment!!!</a:t>
            </a:r>
            <a:r>
              <a:rPr lang="en-US" sz="1600">
                <a:solidFill>
                  <a:srgbClr val="00000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🙂</a:t>
            </a:r>
            <a:r>
              <a:rPr lang="en-US" sz="16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 → "submit assignment"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7417356" y="1957030"/>
            <a:ext cx="3146465" cy="2958822"/>
          </a:xfrm>
          <a:prstGeom prst="roundRect">
            <a:avLst>
              <a:gd name="adj" fmla="val 103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12512" y="2161461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Tokenization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7621786" y="2603540"/>
            <a:ext cx="2737604" cy="9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Breaks down the cleaned text into individual words or "tokens."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7621786" y="3707368"/>
            <a:ext cx="2737604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"join ai tech talk" → [join, ai, tech, talk]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10768251" y="1957030"/>
            <a:ext cx="3146465" cy="2958822"/>
          </a:xfrm>
          <a:prstGeom prst="roundRect">
            <a:avLst>
              <a:gd name="adj" fmla="val 103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972681" y="2161461"/>
            <a:ext cx="2737604" cy="638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Stopword Removal (Optional)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10972681" y="2922984"/>
            <a:ext cx="2737604" cy="1308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Removes common, less informative words (e.g., "the", "is", "on") that add little semantic value.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715685" y="5120283"/>
            <a:ext cx="13199031" cy="1642943"/>
          </a:xfrm>
          <a:prstGeom prst="roundRect">
            <a:avLst>
              <a:gd name="adj" fmla="val 18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96364" y="5324713"/>
            <a:ext cx="4237553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Stemming/Lemmatization (Optional)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920115" y="5766792"/>
            <a:ext cx="12790170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Reduces words to their base or root form, improving consistency.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920115" y="6216491"/>
            <a:ext cx="12790170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"submitting", "submitted" → "submit"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715685" y="6993255"/>
            <a:ext cx="13199031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Cleaning this data is crucial as it significantly improves the accuracy and readability for NLP models like Naive Bayes.</a:t>
            </a:r>
            <a:endParaRPr lang="en-US" sz="16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5E63BD-69F5-7249-D066-F19F680F42E6}"/>
              </a:ext>
            </a:extLst>
          </p:cNvPr>
          <p:cNvSpPr/>
          <p:nvPr/>
        </p:nvSpPr>
        <p:spPr>
          <a:xfrm>
            <a:off x="0" y="7710286"/>
            <a:ext cx="14630400" cy="519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778" y="549354"/>
            <a:ext cx="4991219" cy="623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Workflow Diagram</a:t>
            </a:r>
            <a:endParaRPr lang="en-US" sz="39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848" y="1572458"/>
            <a:ext cx="1310045" cy="71104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6436" y="1829157"/>
            <a:ext cx="280749" cy="35087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61441" y="1772007"/>
            <a:ext cx="3198376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Incoming Academic Message</a:t>
            </a:r>
            <a:endParaRPr lang="en-US" sz="1950"/>
          </a:p>
        </p:txBody>
      </p:sp>
      <p:sp>
        <p:nvSpPr>
          <p:cNvPr id="6" name="Shape 2"/>
          <p:cNvSpPr/>
          <p:nvPr/>
        </p:nvSpPr>
        <p:spPr>
          <a:xfrm>
            <a:off x="4711779" y="2298859"/>
            <a:ext cx="9169956" cy="11430"/>
          </a:xfrm>
          <a:prstGeom prst="roundRect">
            <a:avLst>
              <a:gd name="adj" fmla="val 262012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6885" y="2333387"/>
            <a:ext cx="2620089" cy="711041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6555" y="2513409"/>
            <a:ext cx="280749" cy="3508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516523" y="2532936"/>
            <a:ext cx="1551742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Preprocessing</a:t>
            </a:r>
            <a:endParaRPr lang="en-US" sz="1950"/>
          </a:p>
        </p:txBody>
      </p:sp>
      <p:sp>
        <p:nvSpPr>
          <p:cNvPr id="10" name="Shape 4"/>
          <p:cNvSpPr/>
          <p:nvPr/>
        </p:nvSpPr>
        <p:spPr>
          <a:xfrm>
            <a:off x="5366861" y="3059787"/>
            <a:ext cx="8514874" cy="11430"/>
          </a:xfrm>
          <a:prstGeom prst="roundRect">
            <a:avLst>
              <a:gd name="adj" fmla="val 262012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1803" y="3094315"/>
            <a:ext cx="3930134" cy="711041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6436" y="3274338"/>
            <a:ext cx="280749" cy="350877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171486" y="3293864"/>
            <a:ext cx="3272076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Extraction ( TF–IDF)</a:t>
            </a:r>
            <a:endParaRPr lang="en-US" sz="1950"/>
          </a:p>
        </p:txBody>
      </p:sp>
      <p:sp>
        <p:nvSpPr>
          <p:cNvPr id="14" name="Shape 6"/>
          <p:cNvSpPr/>
          <p:nvPr/>
        </p:nvSpPr>
        <p:spPr>
          <a:xfrm>
            <a:off x="6021824" y="3820716"/>
            <a:ext cx="7859911" cy="11430"/>
          </a:xfrm>
          <a:prstGeom prst="roundRect">
            <a:avLst>
              <a:gd name="adj" fmla="val 262012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6840" y="3855244"/>
            <a:ext cx="5240179" cy="711041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6436" y="4035266"/>
            <a:ext cx="280749" cy="350877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826568" y="4054793"/>
            <a:ext cx="2418874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Naive Bayes Classifier</a:t>
            </a:r>
            <a:endParaRPr lang="en-US" sz="1950"/>
          </a:p>
        </p:txBody>
      </p:sp>
      <p:sp>
        <p:nvSpPr>
          <p:cNvPr id="18" name="Shape 8"/>
          <p:cNvSpPr/>
          <p:nvPr/>
        </p:nvSpPr>
        <p:spPr>
          <a:xfrm>
            <a:off x="6676906" y="4581644"/>
            <a:ext cx="7204829" cy="11430"/>
          </a:xfrm>
          <a:prstGeom prst="roundRect">
            <a:avLst>
              <a:gd name="adj" fmla="val 262012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758" y="4616172"/>
            <a:ext cx="6550223" cy="711041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66436" y="4796195"/>
            <a:ext cx="280749" cy="350877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7481530" y="4815721"/>
            <a:ext cx="2185749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Category Prediction</a:t>
            </a:r>
            <a:endParaRPr lang="en-US" sz="1950"/>
          </a:p>
        </p:txBody>
      </p:sp>
      <p:sp>
        <p:nvSpPr>
          <p:cNvPr id="22" name="Shape 10"/>
          <p:cNvSpPr/>
          <p:nvPr/>
        </p:nvSpPr>
        <p:spPr>
          <a:xfrm>
            <a:off x="698778" y="5776317"/>
            <a:ext cx="6372939" cy="1679258"/>
          </a:xfrm>
          <a:prstGeom prst="roundRect">
            <a:avLst>
              <a:gd name="adj" fmla="val 1783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8327" y="6028373"/>
            <a:ext cx="311944" cy="249555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1409819" y="6025753"/>
            <a:ext cx="249555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Event / Tech Talk</a:t>
            </a:r>
            <a:endParaRPr lang="en-US" sz="1950"/>
          </a:p>
        </p:txBody>
      </p:sp>
      <p:sp>
        <p:nvSpPr>
          <p:cNvPr id="25" name="Text 12"/>
          <p:cNvSpPr/>
          <p:nvPr/>
        </p:nvSpPr>
        <p:spPr>
          <a:xfrm>
            <a:off x="1409819" y="6537246"/>
            <a:ext cx="5462349" cy="638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→ Extract Time → Add Calendar Reminder / Trigger Notification</a:t>
            </a:r>
            <a:endParaRPr lang="en-US" sz="1550"/>
          </a:p>
        </p:txBody>
      </p:sp>
      <p:sp>
        <p:nvSpPr>
          <p:cNvPr id="26" name="Shape 13"/>
          <p:cNvSpPr/>
          <p:nvPr/>
        </p:nvSpPr>
        <p:spPr>
          <a:xfrm>
            <a:off x="7566303" y="5776317"/>
            <a:ext cx="6372939" cy="1359813"/>
          </a:xfrm>
          <a:prstGeom prst="roundRect">
            <a:avLst>
              <a:gd name="adj" fmla="val 2202"/>
            </a:avLst>
          </a:prstGeom>
          <a:solidFill>
            <a:srgbClr val="E5D5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65852" y="6028373"/>
            <a:ext cx="311944" cy="249555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8277344" y="6025753"/>
            <a:ext cx="2495550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Other Academic</a:t>
            </a:r>
            <a:endParaRPr lang="en-US" sz="1950"/>
          </a:p>
        </p:txBody>
      </p:sp>
      <p:sp>
        <p:nvSpPr>
          <p:cNvPr id="29" name="Text 15"/>
          <p:cNvSpPr/>
          <p:nvPr/>
        </p:nvSpPr>
        <p:spPr>
          <a:xfrm>
            <a:off x="8277344" y="6537246"/>
            <a:ext cx="5462349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→ Display Only</a:t>
            </a:r>
            <a:endParaRPr lang="en-US" sz="15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28DA37-E660-25FD-7DE7-F5C5C8EB60EF}"/>
              </a:ext>
            </a:extLst>
          </p:cNvPr>
          <p:cNvSpPr/>
          <p:nvPr/>
        </p:nvSpPr>
        <p:spPr>
          <a:xfrm>
            <a:off x="0" y="7710286"/>
            <a:ext cx="14630400" cy="519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33926"/>
            <a:ext cx="59776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Features &amp; Benefits</a:t>
            </a:r>
            <a:endParaRPr lang="en-US" sz="445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1982867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30653" y="2117527"/>
            <a:ext cx="30021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Automatic classification</a:t>
            </a:r>
            <a:endParaRPr lang="en-US" sz="2200"/>
          </a:p>
        </p:txBody>
      </p:sp>
      <p:sp>
        <p:nvSpPr>
          <p:cNvPr id="6" name="Text 2"/>
          <p:cNvSpPr/>
          <p:nvPr/>
        </p:nvSpPr>
        <p:spPr>
          <a:xfrm>
            <a:off x="7130653" y="2607945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of academic messages</a:t>
            </a:r>
            <a:endParaRPr lang="en-US" sz="175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424476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30653" y="3559135"/>
            <a:ext cx="40118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Reminders for important events</a:t>
            </a:r>
            <a:endParaRPr lang="en-US" sz="2200"/>
          </a:p>
        </p:txBody>
      </p:sp>
      <p:sp>
        <p:nvSpPr>
          <p:cNvPr id="9" name="Text 4"/>
          <p:cNvSpPr/>
          <p:nvPr/>
        </p:nvSpPr>
        <p:spPr>
          <a:xfrm>
            <a:off x="7130653" y="4049554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→ better time management</a:t>
            </a:r>
            <a:endParaRPr lang="en-US" sz="175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4866084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30653" y="50007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Small dataset</a:t>
            </a:r>
            <a:endParaRPr lang="en-US" sz="2200"/>
          </a:p>
        </p:txBody>
      </p:sp>
      <p:sp>
        <p:nvSpPr>
          <p:cNvPr id="12" name="Text 6"/>
          <p:cNvSpPr/>
          <p:nvPr/>
        </p:nvSpPr>
        <p:spPr>
          <a:xfrm>
            <a:off x="7130653" y="5491163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→ easy to implement</a:t>
            </a:r>
            <a:endParaRPr lang="en-US" sz="175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0190" y="6307693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130653" y="6442353"/>
            <a:ext cx="36098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Practical real-life application</a:t>
            </a:r>
            <a:endParaRPr lang="en-US" sz="2200"/>
          </a:p>
        </p:txBody>
      </p:sp>
      <p:sp>
        <p:nvSpPr>
          <p:cNvPr id="15" name="Text 8"/>
          <p:cNvSpPr/>
          <p:nvPr/>
        </p:nvSpPr>
        <p:spPr>
          <a:xfrm>
            <a:off x="7130653" y="6932771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→ unique project</a:t>
            </a:r>
            <a:endParaRPr lang="en-US" sz="17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32D189-A033-8499-B2A8-EF2B5316DB7B}"/>
              </a:ext>
            </a:extLst>
          </p:cNvPr>
          <p:cNvSpPr/>
          <p:nvPr/>
        </p:nvSpPr>
        <p:spPr>
          <a:xfrm>
            <a:off x="0" y="7710286"/>
            <a:ext cx="14630400" cy="519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70836"/>
            <a:ext cx="67885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 &amp; Future Scope</a:t>
            </a:r>
            <a:endParaRPr lang="en-US" sz="4450"/>
          </a:p>
        </p:txBody>
      </p:sp>
      <p:sp>
        <p:nvSpPr>
          <p:cNvPr id="4" name="Text 1"/>
          <p:cNvSpPr/>
          <p:nvPr/>
        </p:nvSpPr>
        <p:spPr>
          <a:xfrm>
            <a:off x="6620351" y="2359938"/>
            <a:ext cx="7216259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Students/faculty can </a:t>
            </a:r>
            <a:r>
              <a:rPr lang="en-US" sz="355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stay organized and never miss important events</a:t>
            </a:r>
            <a:endParaRPr lang="en-US" sz="3550"/>
          </a:p>
        </p:txBody>
      </p:sp>
      <p:sp>
        <p:nvSpPr>
          <p:cNvPr id="5" name="Shape 2"/>
          <p:cNvSpPr/>
          <p:nvPr/>
        </p:nvSpPr>
        <p:spPr>
          <a:xfrm>
            <a:off x="6280190" y="2019776"/>
            <a:ext cx="30480" cy="1814274"/>
          </a:xfrm>
          <a:prstGeom prst="rect">
            <a:avLst/>
          </a:prstGeom>
          <a:solidFill>
            <a:srgbClr val="C49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280190" y="417421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Future scope:</a:t>
            </a:r>
            <a:endParaRPr lang="en-US" sz="2650"/>
          </a:p>
        </p:txBody>
      </p:sp>
      <p:sp>
        <p:nvSpPr>
          <p:cNvPr id="7" name="Shape 4"/>
          <p:cNvSpPr/>
          <p:nvPr/>
        </p:nvSpPr>
        <p:spPr>
          <a:xfrm>
            <a:off x="6280190" y="4939665"/>
            <a:ext cx="3664744" cy="1223248"/>
          </a:xfrm>
          <a:prstGeom prst="roundRect">
            <a:avLst>
              <a:gd name="adj" fmla="val 2781"/>
            </a:avLst>
          </a:prstGeom>
          <a:solidFill>
            <a:srgbClr val="464342"/>
          </a:solidFill>
          <a:ln w="30480">
            <a:solidFill>
              <a:srgbClr val="504D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537484" y="5196959"/>
            <a:ext cx="31501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Integration with Gmail/WhatsApp</a:t>
            </a:r>
            <a:endParaRPr lang="en-US" sz="2200"/>
          </a:p>
        </p:txBody>
      </p:sp>
      <p:sp>
        <p:nvSpPr>
          <p:cNvPr id="9" name="Shape 6"/>
          <p:cNvSpPr/>
          <p:nvPr/>
        </p:nvSpPr>
        <p:spPr>
          <a:xfrm>
            <a:off x="10171748" y="4939665"/>
            <a:ext cx="3664863" cy="1223248"/>
          </a:xfrm>
          <a:prstGeom prst="roundRect">
            <a:avLst>
              <a:gd name="adj" fmla="val 2781"/>
            </a:avLst>
          </a:prstGeom>
          <a:solidFill>
            <a:srgbClr val="464342"/>
          </a:solidFill>
          <a:ln w="30480">
            <a:solidFill>
              <a:srgbClr val="504D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0429042" y="51969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Mobile notifications</a:t>
            </a:r>
            <a:endParaRPr lang="en-US" sz="2200"/>
          </a:p>
        </p:txBody>
      </p:sp>
      <p:sp>
        <p:nvSpPr>
          <p:cNvPr id="11" name="Shape 8"/>
          <p:cNvSpPr/>
          <p:nvPr/>
        </p:nvSpPr>
        <p:spPr>
          <a:xfrm>
            <a:off x="6280190" y="6389727"/>
            <a:ext cx="7556421" cy="868918"/>
          </a:xfrm>
          <a:prstGeom prst="roundRect">
            <a:avLst>
              <a:gd name="adj" fmla="val 3916"/>
            </a:avLst>
          </a:prstGeom>
          <a:solidFill>
            <a:srgbClr val="464342"/>
          </a:solidFill>
          <a:ln w="30480">
            <a:solidFill>
              <a:srgbClr val="504D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537484" y="6647021"/>
            <a:ext cx="29296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classification</a:t>
            </a:r>
            <a:endParaRPr lang="en-US" sz="2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2FC05E-2A48-1F1F-F8C8-81A4DB8009C4}"/>
              </a:ext>
            </a:extLst>
          </p:cNvPr>
          <p:cNvSpPr/>
          <p:nvPr/>
        </p:nvSpPr>
        <p:spPr>
          <a:xfrm>
            <a:off x="0" y="7710286"/>
            <a:ext cx="14630400" cy="519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Anna Rose Thomas</cp:lastModifiedBy>
  <cp:revision>1</cp:revision>
  <dcterms:created xsi:type="dcterms:W3CDTF">2025-09-12T09:14:49Z</dcterms:created>
  <dcterms:modified xsi:type="dcterms:W3CDTF">2025-09-12T09:27:46Z</dcterms:modified>
</cp:coreProperties>
</file>